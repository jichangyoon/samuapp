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SOLANA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0FF"/>
                </a:solidFill>
              </a:rPr>
              <a:t>What is </a:t>
            </a:r>
            <a:pPr algn="ctr" indent="0" marL="0">
              <a:buNone/>
            </a:pPr>
            <a:r>
              <a:rPr lang="en-US" sz="5200" b="1" dirty="0">
                <a:solidFill>
                  <a:srgbClr val="9945FF"/>
                </a:solidFill>
              </a:rPr>
              <a:t>IP</a:t>
            </a:r>
            <a:pPr algn="ctr" indent="0" marL="0">
              <a:buNone/>
            </a:pPr>
            <a:r>
              <a:rPr lang="en-US" sz="5200" b="1" dirty="0">
                <a:solidFill>
                  <a:srgbClr val="F0F0FF"/>
                </a:solidFill>
              </a:rPr>
              <a:t>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070A0"/>
                </a:solidFill>
              </a:rPr>
              <a:t>IP = Intellectual Property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070A0"/>
                </a:solidFill>
              </a:rPr>
              <a:t>A character. A story. A brand. Something people love enough to pay for.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0725912" cy="1828800"/>
          </a:xfrm>
          <a:prstGeom prst="rect">
            <a:avLst>
              <a:gd name="adj" fmla="val 6000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</a:rPr>
              <a:t>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14800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Creative energy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94422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0A0"/>
                </a:solidFill>
              </a:rPr>
              <a:t>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74443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</a:rPr>
              <a:t>Community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74443" y="3749040"/>
            <a:ext cx="14800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Fans who care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54465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0A0"/>
                </a:solidFill>
              </a:rPr>
              <a:t>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34487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Revenue Cycle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4487" y="3749040"/>
            <a:ext cx="14800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Goods → money → more 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14509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0A0"/>
                </a:solidFill>
              </a:rPr>
              <a:t>=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94530" y="3200400"/>
            <a:ext cx="14800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</a:rPr>
              <a:t>Billion-Dollar 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94530" y="3749040"/>
            <a:ext cx="14800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That's how IP works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493776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A0"/>
                </a:solidFill>
              </a:rPr>
              <a:t>On Solana, meme communities already have the story and the fans. They're missing the revenue cycle.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WHAT IS IP?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46318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0A0"/>
                </a:solidFill>
              </a:rPr>
              <a:t>1928. One sketch.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88720"/>
            <a:ext cx="29260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F195"/>
                </a:solidFill>
              </a:rPr>
              <a:t>→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303520" y="1828800"/>
            <a:ext cx="6519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7070A0"/>
                </a:solidFill>
              </a:rPr>
              <a:t>The Walt Disney Company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0" y="2331720"/>
            <a:ext cx="6519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945FF"/>
                </a:solidFill>
              </a:rPr>
              <a:t>$200B+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5303520" y="3566160"/>
            <a:ext cx="6519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0A0"/>
                </a:solidFill>
              </a:rPr>
              <a:t>empire built on one character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WHAT IS IP?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A0"/>
                </a:solidFill>
              </a:rPr>
              <a:t>It wasn't just Disney.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28016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070A0"/>
                </a:solidFill>
              </a:rPr>
              <a:t>PIXAR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F195"/>
                </a:solidFill>
              </a:rPr>
              <a:t>$7.4B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97280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1986. One desk lamp.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Acquired by Disney.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94960" y="2560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70A0"/>
                </a:solidFill>
              </a:rPr>
              <a:t>&amp;</a:t>
            </a:r>
            <a:endParaRPr lang="en-US" sz="3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1280160"/>
            <a:ext cx="237744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070A0"/>
                </a:solidFill>
              </a:rPr>
              <a:t>DREAMWORKS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85800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45FF"/>
                </a:solidFill>
              </a:rPr>
              <a:t>$3.8B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858000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2008. One panda.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Acquired by Comcast.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F"/>
                </a:solidFill>
              </a:rPr>
              <a:t>One character. One story.  →  Billion-dollar empire.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0FF"/>
                </a:solidFill>
              </a:rPr>
              <a:t>What about </a:t>
            </a:r>
            <a:pPr algn="ctr" indent="0" marL="0">
              <a:buNone/>
            </a:pPr>
            <a:r>
              <a:rPr lang="en-US" sz="3800" b="1" dirty="0">
                <a:solidFill>
                  <a:srgbClr val="14F195"/>
                </a:solidFill>
              </a:rPr>
              <a:t>Web3?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33956" y="1645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33956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070A0"/>
                </a:solidFill>
              </a:rPr>
              <a:t>DOGE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1316" y="1645920"/>
            <a:ext cx="13716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1316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070A0"/>
                </a:solidFill>
              </a:rPr>
              <a:t>WIF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08676" y="1645920"/>
            <a:ext cx="1371600" cy="1371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08676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070A0"/>
                </a:solidFill>
              </a:rPr>
              <a:t>BONK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46036" y="1645920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46036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070A0"/>
                </a:solidFill>
              </a:rPr>
              <a:t>PEPE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83396" y="1645920"/>
            <a:ext cx="1371600" cy="1371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83396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070A0"/>
                </a:solidFill>
              </a:rPr>
              <a:t>BOME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1371600" y="3749040"/>
            <a:ext cx="9445752" cy="2011680"/>
          </a:xfrm>
          <a:prstGeom prst="rect">
            <a:avLst>
              <a:gd name="adj" fmla="val 5455"/>
            </a:avLst>
          </a:prstGeom>
          <a:solidFill>
            <a:srgbClr val="16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1371600" y="3749040"/>
            <a:ext cx="9445752" cy="2011680"/>
          </a:xfrm>
          <a:prstGeom prst="rect">
            <a:avLst>
              <a:gd name="adj" fmla="val 4545"/>
            </a:avLst>
          </a:prstGeom>
          <a:solidFill>
            <a:srgbClr val="1A0A05"/>
          </a:solidFill>
          <a:ln w="12700">
            <a:solidFill>
              <a:srgbClr val="803519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645920" y="4023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Billions in market cap. Zero IP monetization.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645920" y="46634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A0"/>
                </a:solidFill>
              </a:rPr>
              <a:t>They have the characters, the communities, the cultural energy.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070A0"/>
                </a:solidFill>
              </a:rPr>
              <a:t>They're missing the revenue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0F0FF"/>
                </a:solidFill>
              </a:rPr>
              <a:t>Memecoins are
</a:t>
            </a:r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9945FF"/>
                </a:solidFill>
              </a:rPr>
              <a:t>community-born IPs.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070A0"/>
                </a:solidFill>
              </a:rPr>
              <a:t>BONK became a cultural movement. WIF built a global fanbase.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070A0"/>
                </a:solidFill>
              </a:rPr>
              <a:t>These are IPs — with passionate communities and viral creative energy.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3383280"/>
            <a:ext cx="8531352" cy="1463040"/>
          </a:xfrm>
          <a:prstGeom prst="rect">
            <a:avLst>
              <a:gd name="adj" fmla="val 6250"/>
            </a:avLst>
          </a:prstGeom>
          <a:solidFill>
            <a:srgbClr val="1A0A0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611880"/>
            <a:ext cx="7982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</a:rPr>
              <a:t>But most of them just die.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03120" y="4206240"/>
            <a:ext cx="7982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A0"/>
                </a:solidFill>
              </a:rPr>
              <a:t>No infrastructure to capture and compound that value.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51206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</a:rPr>
              <a:t>$60B+ Memecoin Market Cap   ·   Millions of Creators &amp; Voters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0FF"/>
                </a:solidFill>
              </a:rPr>
              <a:t>The community creative energy
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9945FF"/>
                </a:solidFill>
              </a:rPr>
              <a:t>evaporates on Twitter.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9556" y="1920240"/>
            <a:ext cx="3200400" cy="3200400"/>
          </a:xfrm>
          <a:prstGeom prst="rect">
            <a:avLst>
              <a:gd name="adj" fmla="val 3429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56716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F"/>
                </a:solidFill>
              </a:rPr>
              <a:t>Meme Creator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6716" y="3383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My meme went viral and pumped the token. I get zero revenue. No way to prove or monetize my IP.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4276" y="1920240"/>
            <a:ext cx="3200400" cy="3200400"/>
          </a:xfrm>
          <a:prstGeom prst="rect">
            <a:avLst>
              <a:gd name="adj" fmla="val 3429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4276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🗳️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31436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F"/>
                </a:solidFill>
              </a:rPr>
              <a:t>Community Voter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1436" y="3383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I curate great memes and build community culture. No reward structure. Not enough reason to stay engaged.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68996" y="1920240"/>
            <a:ext cx="3200400" cy="3200400"/>
          </a:xfrm>
          <a:prstGeom prst="rect">
            <a:avLst>
              <a:gd name="adj" fmla="val 3429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68996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06156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F"/>
                </a:solidFill>
              </a:rPr>
              <a:t>Project Team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06156" y="33832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We want to turn memes into real goods. No pipeline. Everything done manually, one-off, no scale.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539496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No infrastructure to convert community energy into lasting value.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F0FF"/>
                </a:solidFill>
              </a:rPr>
              <a:t>SAMU Protocol:
</a:t>
            </a:r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4F195"/>
                </a:solidFill>
              </a:rPr>
              <a:t>Meme → IP → Goods → On-Chain Revenue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Capture community energy. Archive it as IP. Connect to goods. Distribute revenue back to the creators.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4924" y="2834640"/>
            <a:ext cx="1828800" cy="1188720"/>
          </a:xfrm>
          <a:prstGeom prst="rect">
            <a:avLst>
              <a:gd name="adj" fmla="val 9231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" y="2971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F"/>
                </a:solidFill>
              </a:rPr>
              <a:t>🎨 Upload Meme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Community contest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3452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F195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57500" y="2834640"/>
            <a:ext cx="1828800" cy="1188720"/>
          </a:xfrm>
          <a:prstGeom prst="rect">
            <a:avLst>
              <a:gd name="adj" fmla="val 9231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220" y="2971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F"/>
                </a:solidFill>
              </a:rPr>
              <a:t>🗳️ Token Vote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0322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SPL token staking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6028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F19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80076" y="2834640"/>
            <a:ext cx="1828800" cy="1188720"/>
          </a:xfrm>
          <a:prstGeom prst="rect">
            <a:avLst>
              <a:gd name="adj" fmla="val 9231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5796" y="2971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F"/>
                </a:solidFill>
              </a:rPr>
              <a:t>🏆 IP Archive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25796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On-chain record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8604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F19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02652" y="2834640"/>
            <a:ext cx="1828800" cy="1188720"/>
          </a:xfrm>
          <a:prstGeom prst="rect">
            <a:avLst>
              <a:gd name="adj" fmla="val 9231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8372" y="2971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F"/>
                </a:solidFill>
              </a:rPr>
              <a:t>🛍️ Goods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8372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Printful automation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41180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F195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25228" y="2834640"/>
            <a:ext cx="1828800" cy="1188720"/>
          </a:xfrm>
          <a:prstGeom prst="rect">
            <a:avLst>
              <a:gd name="adj" fmla="val 9231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0948" y="2971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F"/>
                </a:solidFill>
              </a:rPr>
              <a:t>💰 SOL Distributed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094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</a:rPr>
              <a:t>Anchor smart contract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62556" y="4297680"/>
            <a:ext cx="7863840" cy="1371600"/>
          </a:xfrm>
          <a:prstGeom prst="rect">
            <a:avLst>
              <a:gd name="adj" fmla="val 8000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6876" y="4434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</a:rPr>
              <a:t>45%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436876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Creator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97196" y="4434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45FF"/>
                </a:solidFill>
              </a:rPr>
              <a:t>40%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997196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Voter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57516" y="4434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FF"/>
                </a:solidFill>
              </a:rPr>
              <a:t>15%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557516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Platform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0FF"/>
                </a:solidFill>
              </a:rPr>
              <a:t>Three stakeholders. </a:t>
            </a:r>
            <a:pPr algn="ctr" indent="0" marL="0">
              <a:buNone/>
            </a:pPr>
            <a:r>
              <a:rPr lang="en-US" sz="3000" b="1" dirty="0">
                <a:solidFill>
                  <a:srgbClr val="14F195"/>
                </a:solidFill>
              </a:rPr>
              <a:t>One flywheel.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82396" y="1645920"/>
            <a:ext cx="3291840" cy="4114800"/>
          </a:xfrm>
          <a:prstGeom prst="rect">
            <a:avLst>
              <a:gd name="adj" fmla="val 3333"/>
            </a:avLst>
          </a:prstGeom>
          <a:solidFill>
            <a:srgbClr val="161628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4F195"/>
                </a:solidFill>
              </a:rPr>
              <a:t>CREATOR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9556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F"/>
                </a:solidFill>
              </a:rPr>
              <a:t>Upload your meme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9556" y="2834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Submit original meme to community contest. Community votes with tokens to pick the best.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</a:rPr>
              <a:t>Earns: 45% of goods revenue — proportional to votes received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8556" y="1645920"/>
            <a:ext cx="3291840" cy="4114800"/>
          </a:xfrm>
          <a:prstGeom prst="rect">
            <a:avLst>
              <a:gd name="adj" fmla="val 3333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5716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945FF"/>
                </a:solidFill>
              </a:rPr>
              <a:t>VOTER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85716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F"/>
                </a:solidFill>
              </a:rPr>
              <a:t>Stake tokens to vote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5716" y="2834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Use community SPL tokens to vote for the best memes. Shape what becomes the official IP.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85716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5FF"/>
                </a:solidFill>
              </a:rPr>
              <a:t>Earns: 40% of goods revenue — proportional to tokens staked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4716" y="1645920"/>
            <a:ext cx="3291840" cy="4114800"/>
          </a:xfrm>
          <a:prstGeom prst="rect">
            <a:avLst>
              <a:gd name="adj" fmla="val 3333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1876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</a:rPr>
              <a:t>TEAM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51876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F"/>
                </a:solidFill>
              </a:rPr>
              <a:t>Run the protocol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51876" y="2834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Winning meme is archived on-chain, printed via Printful, and listed as goods automatically.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51876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Earns: 15% — sustains the protocol infrastructure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When a customer buys the goods → Anchor escrow releases → SOL hits all three wallets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PROTOCOL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0F0FF"/>
                </a:solidFill>
              </a:rPr>
              <a:t>Token-agnostic.
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4F195"/>
                </a:solidFill>
              </a:rPr>
              <a:t>Any community can onboard.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SAMU is the first IP. BONK, WIF — any community with an SPL token can run their own contest.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" y="2743200"/>
            <a:ext cx="2468880" cy="2560320"/>
          </a:xfrm>
          <a:prstGeom prst="rect">
            <a:avLst>
              <a:gd name="adj" fmla="val 4444"/>
            </a:avLst>
          </a:prstGeom>
          <a:solidFill>
            <a:srgbClr val="161628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</a:rPr>
              <a:t>SAMU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6676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First community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Contest live on mainnet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6676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4F195"/>
                </a:solidFill>
              </a:rPr>
              <a:t>✅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88436" y="2743200"/>
            <a:ext cx="2468880" cy="2560320"/>
          </a:xfrm>
          <a:prstGeom prst="rect">
            <a:avLst>
              <a:gd name="adj" fmla="val 4444"/>
            </a:avLst>
          </a:prstGeom>
          <a:solidFill>
            <a:srgbClr val="16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9876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BONK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79876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Solana's flagship memecoin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Community ready to onboard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79876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6B35"/>
                </a:solidFill>
              </a:rPr>
              <a:t>→ NEXT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1636" y="2743200"/>
            <a:ext cx="2468880" cy="2560320"/>
          </a:xfrm>
          <a:prstGeom prst="rect">
            <a:avLst>
              <a:gd name="adj" fmla="val 4444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</a:rPr>
              <a:t>WIF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23076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Global memecoin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Goods pipeline compatible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3076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C2FF"/>
                </a:solidFill>
              </a:rPr>
              <a:t>→ NEXT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74836" y="2743200"/>
            <a:ext cx="2468880" cy="2560320"/>
          </a:xfrm>
          <a:prstGeom prst="rect">
            <a:avLst>
              <a:gd name="adj" fmla="val 4444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6276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45FF"/>
                </a:solidFill>
              </a:rPr>
              <a:t>+MORE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66276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Curated communities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Quality-gated onboarding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66276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945FF"/>
                </a:solidFill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5669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IP copyright risk management is the moat.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TRACTION — MAINNET VERIFIED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0F0FF"/>
                </a:solidFill>
              </a:rPr>
              <a:t>Full pipeline validated
</a:t>
            </a:r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4F195"/>
                </a:solidFill>
              </a:rPr>
              <a:t>on Solana mainnet.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9536" y="2194560"/>
            <a:ext cx="2377440" cy="2011680"/>
          </a:xfrm>
          <a:prstGeom prst="rect">
            <a:avLst>
              <a:gd name="adj" fmla="val 5455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377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F195"/>
                </a:solidFill>
              </a:rPr>
              <a:t>471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50976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Wallets Joined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57016" y="2194560"/>
            <a:ext cx="2377440" cy="2011680"/>
          </a:xfrm>
          <a:prstGeom prst="rect">
            <a:avLst>
              <a:gd name="adj" fmla="val 5455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8456" y="2377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945FF"/>
                </a:solidFill>
              </a:rPr>
              <a:t>81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48456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Memes Uploaded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2194560"/>
            <a:ext cx="2377440" cy="2011680"/>
          </a:xfrm>
          <a:prstGeom prst="rect">
            <a:avLst>
              <a:gd name="adj" fmla="val 5455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377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FF"/>
                </a:solidFill>
              </a:rPr>
              <a:t>220M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45936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SAMU Votes 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51976" y="2194560"/>
            <a:ext cx="2377440" cy="2011680"/>
          </a:xfrm>
          <a:prstGeom prst="rect">
            <a:avLst>
              <a:gd name="adj" fmla="val 5455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3416" y="2377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700"/>
                </a:solidFill>
              </a:rPr>
              <a:t>0.61 SOL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043416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SOL Distributed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</a:rPr>
              <a:t>End-to-end pipeline live and verified on Solana mainnet.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507492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70A0"/>
                </a:solidFill>
              </a:rPr>
              <a:t>Program ID: GYfzt1mzWNMurBEej4557YbKmceTWwW3L6attC7pAmWS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0FF"/>
                </a:solidFill>
              </a:rPr>
              <a:t>Protocol </a:t>
            </a:r>
            <a:pPr algn="ctr" indent="0" marL="0">
              <a:buNone/>
            </a:pPr>
            <a:r>
              <a:rPr lang="en-US" sz="3000" b="1" dirty="0">
                <a:solidFill>
                  <a:srgbClr val="14F195"/>
                </a:solidFill>
              </a:rPr>
              <a:t>Layer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7070A0"/>
                </a:solidFill>
              </a:rPr>
              <a:t>COMMUNITY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164592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78308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SAMU Community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90238" y="164592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1678" y="178308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70A0"/>
                </a:solidFill>
              </a:rPr>
              <a:t>BONK Community (soon)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34556" y="164592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5996" y="178308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70A0"/>
                </a:solidFill>
              </a:rPr>
              <a:t>WIF Community (soon)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278874" y="164592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0314" y="178308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70A0"/>
                </a:solidFill>
              </a:rPr>
              <a:t>Any SPL Token...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20156" y="23957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0A0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7070A0"/>
                </a:solidFill>
              </a:rPr>
              <a:t>PROTOCOL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274320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288036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</a:rPr>
              <a:t>Contest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90238" y="274320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81678" y="288036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</a:rPr>
              <a:t>SPL Voting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34556" y="274320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5996" y="288036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</a:rPr>
              <a:t>IP Archive (R2)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78874" y="2743200"/>
            <a:ext cx="2407158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0314" y="2880360"/>
            <a:ext cx="22242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</a:rPr>
              <a:t>Printful Automation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20156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0A0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7070A0"/>
                </a:solidFill>
              </a:rPr>
              <a:t>ON-CHAIN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0" y="3840480"/>
            <a:ext cx="3255264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397764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Anchor Escrow PDA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38344" y="3840480"/>
            <a:ext cx="3255264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9784" y="397764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Auto Distribution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30768" y="3840480"/>
            <a:ext cx="3255264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22208" y="397764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Blinks (vote from X)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20156" y="45902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070A0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" y="5029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7070A0"/>
                </a:solidFill>
              </a:rPr>
              <a:t>RECIPIENTS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45920" y="4937760"/>
            <a:ext cx="3255264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50749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Creator 45% SOL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38344" y="4937760"/>
            <a:ext cx="3255264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50749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</a:rPr>
              <a:t>Voter 40% SOL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30768" y="4937760"/>
            <a:ext cx="3255264" cy="685800"/>
          </a:xfrm>
          <a:prstGeom prst="rect">
            <a:avLst>
              <a:gd name="adj" fmla="val 16000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50749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Platform 15% SOL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0FF"/>
                </a:solidFill>
              </a:rPr>
              <a:t>Three massive markets. </a:t>
            </a:r>
            <a:pPr algn="ctr" indent="0" marL="0">
              <a:buNone/>
            </a:pPr>
            <a:r>
              <a:rPr lang="en-US" sz="3000" b="1" dirty="0">
                <a:solidFill>
                  <a:srgbClr val="14F195"/>
                </a:solidFill>
              </a:rPr>
              <a:t>One protocol.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36676" y="1691640"/>
            <a:ext cx="3200400" cy="2560320"/>
          </a:xfrm>
          <a:prstGeom prst="rect">
            <a:avLst>
              <a:gd name="adj" fmla="val 3571"/>
            </a:avLst>
          </a:prstGeom>
          <a:solidFill>
            <a:srgbClr val="161628"/>
          </a:solidFill>
          <a:ln w="38100">
            <a:solidFill>
              <a:srgbClr val="994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8116" y="1920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945FF"/>
                </a:solidFill>
              </a:rPr>
              <a:t>$60B+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28116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Memecoin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Market Cap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94276" y="1691640"/>
            <a:ext cx="3200400" cy="2560320"/>
          </a:xfrm>
          <a:prstGeom prst="rect">
            <a:avLst>
              <a:gd name="adj" fmla="val 3571"/>
            </a:avLst>
          </a:prstGeom>
          <a:solidFill>
            <a:srgbClr val="161628"/>
          </a:solidFill>
          <a:ln w="38100">
            <a:solidFill>
              <a:srgbClr val="14F1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920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F195"/>
                </a:solidFill>
              </a:rPr>
              <a:t>$250B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85716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Creator Economy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(2025 Estimate)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1876" y="1691640"/>
            <a:ext cx="3200400" cy="2560320"/>
          </a:xfrm>
          <a:prstGeom prst="rect">
            <a:avLst>
              <a:gd name="adj" fmla="val 3571"/>
            </a:avLst>
          </a:prstGeom>
          <a:solidFill>
            <a:srgbClr val="161628"/>
          </a:solidFill>
          <a:ln w="381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3316" y="1920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FF"/>
                </a:solidFill>
              </a:rPr>
              <a:t>$400B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243316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Global Merchandise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070A0"/>
                </a:solidFill>
              </a:rPr>
              <a:t>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9445752" cy="1463040"/>
          </a:xfrm>
          <a:prstGeom prst="rect">
            <a:avLst>
              <a:gd name="adj" fmla="val 7500"/>
            </a:avLst>
          </a:prstGeom>
          <a:solidFill>
            <a:srgbClr val="161628"/>
          </a:solidFill>
          <a:ln w="12700">
            <a:solidFill>
              <a:srgbClr val="2A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4709160"/>
            <a:ext cx="88971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070A0"/>
                </a:solidFill>
              </a:rPr>
              <a:t>Tens of millions of memecoin holders are building communities, creating memes, voting —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070A0"/>
                </a:solidFill>
              </a:rPr>
              <a:t>but there's no infrastructure to convert that energy into lasting value.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070A0"/>
                </a:solidFill>
              </a:rPr>
              <a:t>SAMU Protocol is that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WHY SOLANA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0FF"/>
                </a:solidFill>
              </a:rPr>
              <a:t>Memes need </a:t>
            </a:r>
            <a:pPr algn="ctr" indent="0" marL="0">
              <a:buNone/>
            </a:pPr>
            <a:r>
              <a:rPr lang="en-US" sz="3000" b="1" dirty="0">
                <a:solidFill>
                  <a:srgbClr val="14F195"/>
                </a:solidFill>
              </a:rPr>
              <a:t>speed and scale.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80076" cy="1478280"/>
          </a:xfrm>
          <a:prstGeom prst="rect">
            <a:avLst/>
          </a:prstGeom>
          <a:solidFill>
            <a:srgbClr val="161628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6576" cy="147828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⚡ 65,000 TPS · 400ms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905756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Voting feels instant. Memes live and die in minutes — speed is everything.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4476" y="1828800"/>
            <a:ext cx="5180076" cy="1478280"/>
          </a:xfrm>
          <a:prstGeom prst="rect">
            <a:avLst/>
          </a:prstGeom>
          <a:solidFill>
            <a:srgbClr val="161628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1828800"/>
            <a:ext cx="36576" cy="147828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7356" y="196596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💸 $0.00025 per tx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77356" y="2331720"/>
            <a:ext cx="4905756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Micro-votes aren't eaten by gas. Every vote counts.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444240"/>
            <a:ext cx="5180076" cy="1478280"/>
          </a:xfrm>
          <a:prstGeom prst="rect">
            <a:avLst/>
          </a:prstGeom>
          <a:solidFill>
            <a:srgbClr val="161628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44240"/>
            <a:ext cx="36576" cy="147828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8140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🔗 Solana Blinks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947160"/>
            <a:ext cx="4905756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Vote directly from X (Twitter) without opening an app.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4476" y="3444240"/>
            <a:ext cx="5180076" cy="1478280"/>
          </a:xfrm>
          <a:prstGeom prst="rect">
            <a:avLst/>
          </a:prstGeom>
          <a:solidFill>
            <a:srgbClr val="161628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4476" y="3444240"/>
            <a:ext cx="36576" cy="147828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7356" y="358140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🌿 cNFT (Bubblegum)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7356" y="3947160"/>
            <a:ext cx="4905756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Phase 3: Mint millions of IP equity NFTs for near-zero cost.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059680"/>
            <a:ext cx="5180076" cy="1478280"/>
          </a:xfrm>
          <a:prstGeom prst="rect">
            <a:avLst/>
          </a:prstGeom>
          <a:solidFill>
            <a:srgbClr val="161628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059680"/>
            <a:ext cx="36576" cy="147828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9684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💎 SPL Token Ecosystem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562600"/>
            <a:ext cx="4905756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Every memecoin is SPL-based. Swap the token config — new community instantly.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94476" y="5059680"/>
            <a:ext cx="5180076" cy="1478280"/>
          </a:xfrm>
          <a:prstGeom prst="rect">
            <a:avLst/>
          </a:prstGeom>
          <a:solidFill>
            <a:srgbClr val="161628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4476" y="5059680"/>
            <a:ext cx="36576" cy="147828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7356" y="519684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</a:rPr>
              <a:t>⚓ Anchor Framework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7356" y="5562600"/>
            <a:ext cx="4905756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Escrow PDA, auto-distribution — live on mainnet.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TOKEN ECONOMICS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0FF"/>
                </a:solidFill>
              </a:rPr>
              <a:t>85% goes back to the people
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4F195"/>
                </a:solidFill>
              </a:rPr>
              <a:t>who created the value.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73836" y="2103120"/>
            <a:ext cx="3108960" cy="3200400"/>
          </a:xfrm>
          <a:prstGeom prst="rect">
            <a:avLst>
              <a:gd name="adj" fmla="val 2941"/>
            </a:avLst>
          </a:prstGeom>
          <a:solidFill>
            <a:srgbClr val="161628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" y="2103120"/>
            <a:ext cx="3108960" cy="73152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5276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F195"/>
                </a:solidFill>
              </a:rPr>
              <a:t>45%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65276" y="3337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F"/>
                </a:solidFill>
              </a:rPr>
              <a:t>Creator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6716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SOL distributed proportional to votes received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39996" y="2103120"/>
            <a:ext cx="3108960" cy="3200400"/>
          </a:xfrm>
          <a:prstGeom prst="rect">
            <a:avLst>
              <a:gd name="adj" fmla="val 2941"/>
            </a:avLst>
          </a:prstGeom>
          <a:solidFill>
            <a:srgbClr val="161628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9996" y="2103120"/>
            <a:ext cx="3108960" cy="73152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1436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945FF"/>
                </a:solidFill>
              </a:rPr>
              <a:t>40%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31436" y="3337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F"/>
                </a:solidFill>
              </a:rPr>
              <a:t>Voter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2876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SOL distributed proportional to tokens staked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6156" y="2103120"/>
            <a:ext cx="3108960" cy="3200400"/>
          </a:xfrm>
          <a:prstGeom prst="rect">
            <a:avLst>
              <a:gd name="adj" fmla="val 2941"/>
            </a:avLst>
          </a:prstGeom>
          <a:solidFill>
            <a:srgbClr val="1616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6156" y="2103120"/>
            <a:ext cx="310896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7596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2FF"/>
                </a:solidFill>
              </a:rPr>
              <a:t>15%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197596" y="3337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F"/>
                </a:solidFill>
              </a:rPr>
              <a:t>Platform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9036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070A0"/>
                </a:solidFill>
              </a:rPr>
              <a:t>Protocol infrastructure and operations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5669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A0"/>
                </a:solidFill>
              </a:rPr>
              <a:t>Same structure for every community that onboards — fair, transparent, and trustless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7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4F195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0FF"/>
                </a:solidFill>
              </a:rPr>
              <a:t>Phase 1 &amp; 2 done. </a:t>
            </a:r>
            <a:pPr algn="ctr" indent="0" marL="0">
              <a:buNone/>
            </a:pPr>
            <a:r>
              <a:rPr lang="en-US" sz="3000" b="1" dirty="0">
                <a:solidFill>
                  <a:srgbClr val="14F195"/>
                </a:solidFill>
              </a:rPr>
              <a:t>Mainnet live.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070A0"/>
                </a:solidFill>
              </a:rPr>
              <a:t>PHASE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43659" y="2011680"/>
            <a:ext cx="457200" cy="457200"/>
          </a:xfrm>
          <a:prstGeom prst="ellipse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3659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0859" y="2240280"/>
            <a:ext cx="274320" cy="0"/>
          </a:xfrm>
          <a:prstGeom prst="line">
            <a:avLst/>
          </a:prstGeom>
          <a:noFill/>
          <a:ln w="12700">
            <a:solidFill>
              <a:srgbClr val="707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060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SAMU Community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22242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Contest · goods · revenue distribution validated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04438" y="1691640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070A0"/>
                </a:solidFill>
              </a:rPr>
              <a:t>PHASE 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33697" y="2011680"/>
            <a:ext cx="457200" cy="457200"/>
          </a:xfrm>
          <a:prstGeom prst="ellipse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3697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0897" y="2240280"/>
            <a:ext cx="274320" cy="0"/>
          </a:xfrm>
          <a:prstGeom prst="line">
            <a:avLst/>
          </a:prstGeom>
          <a:noFill/>
          <a:ln w="12700">
            <a:solidFill>
              <a:srgbClr val="707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26060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Smart Contract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0158" y="3154680"/>
            <a:ext cx="22242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Anchor Escrow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Mainnet Live 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4476" y="1691640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070A0"/>
                </a:solidFill>
              </a:rPr>
              <a:t>PHASE 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23735" y="2011680"/>
            <a:ext cx="457200" cy="457200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3735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80935" y="2240280"/>
            <a:ext cx="274320" cy="0"/>
          </a:xfrm>
          <a:prstGeom prst="line">
            <a:avLst/>
          </a:prstGeom>
          <a:noFill/>
          <a:ln w="12700">
            <a:solidFill>
              <a:srgbClr val="707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0196" y="26060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cNFT IP Equity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0196" y="3154680"/>
            <a:ext cx="22242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Bubblegum — IP ownership as NFT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4514" y="1691640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070A0"/>
                </a:solidFill>
              </a:rPr>
              <a:t>PHASE 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13773" y="2011680"/>
            <a:ext cx="457200" cy="457200"/>
          </a:xfrm>
          <a:prstGeom prst="ellipse">
            <a:avLst/>
          </a:prstGeom>
          <a:solidFill>
            <a:srgbClr val="1E1E36"/>
          </a:solidFill>
          <a:ln w="12700">
            <a:solidFill>
              <a:srgbClr val="1E1E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3773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30234" y="26060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Curated Listing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30234" y="3154680"/>
            <a:ext cx="22242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070A0"/>
                </a:solidFill>
              </a:rPr>
              <a:t>Verified communities only — quality gated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42062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70A0"/>
                </a:solidFill>
              </a:rPr>
              <a:t>SAMU is the first IP.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9945FF"/>
                </a:solidFill>
              </a:rPr>
              <a:t>The goal is to turn Solana into Disney.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A0"/>
                </a:solidFill>
              </a:rPr>
              <a:t>SAMU Protocol  ·  samu.ink  ·  Solana Mainnet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SAMU Protocol — Community IP on Solana</dc:title>
  <dc:subject>PptxGenJS Presentation</dc:subject>
  <dc:creator>SAMU Protocol</dc:creator>
  <cp:lastModifiedBy>SAMU Protocol</cp:lastModifiedBy>
  <cp:revision>1</cp:revision>
  <dcterms:created xsi:type="dcterms:W3CDTF">2026-03-27T03:27:32Z</dcterms:created>
  <dcterms:modified xsi:type="dcterms:W3CDTF">2026-03-27T03:27:32Z</dcterms:modified>
</cp:coreProperties>
</file>